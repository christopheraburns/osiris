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1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45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OSIRIS Today: An Observation Toy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02920" y="95097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beautiful window on the present moment - with no memory and no understanding.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66928" cy="566928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33" y="1758025"/>
            <a:ext cx="306141" cy="3061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5910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but shallow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98448" y="192024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public feeds - air, sea, space, seismic, fire, CCTV, cyber - on a WebGL globe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523744"/>
            <a:ext cx="566928" cy="566928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33" y="2654137"/>
            <a:ext cx="306141" cy="306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4871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only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98448" y="281635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dots on a map; no correlation, no analysis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419856"/>
            <a:ext cx="566928" cy="566928"/>
          </a:xfrm>
          <a:prstGeom prst="ellipse">
            <a:avLst/>
          </a:prstGeom>
          <a:solidFill>
            <a:srgbClr val="E2776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33" y="3550249"/>
            <a:ext cx="306141" cy="3061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3832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ephemeral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98448" y="3712464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persistence, no replay, no time-travel - refresh and it's gone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315968"/>
            <a:ext cx="566928" cy="566928"/>
          </a:xfrm>
          <a:prstGeom prst="ellipse">
            <a:avLst/>
          </a:prstGeom>
          <a:solidFill>
            <a:srgbClr val="E2776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033" y="4446361"/>
            <a:ext cx="306141" cy="30614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427939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298448" y="4608576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are never linked; there is no intelligence layer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212080"/>
            <a:ext cx="566928" cy="566928"/>
          </a:xfrm>
          <a:prstGeom prst="ellipse">
            <a:avLst/>
          </a:prstGeom>
          <a:solidFill>
            <a:srgbClr val="E2776B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033" y="5342473"/>
            <a:ext cx="306141" cy="30614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98448" y="51755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Hardwired to the internet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298448" y="550468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public APIs - it cannot run disconnected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48640" y="60533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'Sees the present. Remembers nothing. Explains nothing.'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7635240" y="1783080"/>
            <a:ext cx="3566160" cy="914400"/>
          </a:xfrm>
          <a:prstGeom prst="roundRect">
            <a:avLst>
              <a:gd name="adj" fmla="val 7000"/>
            </a:avLst>
          </a:prstGeom>
          <a:solidFill>
            <a:srgbClr val="2B3A4A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7818120" y="19293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Internet APIs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818120" y="22951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third-party live feeds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635240" y="3200400"/>
            <a:ext cx="3566160" cy="914400"/>
          </a:xfrm>
          <a:prstGeom prst="roundRect">
            <a:avLst>
              <a:gd name="adj" fmla="val 7000"/>
            </a:avLst>
          </a:prstGeom>
          <a:solidFill>
            <a:srgbClr val="2B3A4A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7818120" y="33467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OSIRIS Web App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7818120" y="37124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 (proxy)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7635240" y="4617720"/>
            <a:ext cx="3566160" cy="914400"/>
          </a:xfrm>
          <a:prstGeom prst="roundRect">
            <a:avLst>
              <a:gd name="adj" fmla="val 7000"/>
            </a:avLst>
          </a:prstGeom>
          <a:solidFill>
            <a:srgbClr val="2B3A4A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7818120" y="47640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Globe UI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7818120" y="51297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overlays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9418320" y="2715768"/>
            <a:ext cx="0" cy="420624"/>
          </a:xfrm>
          <a:prstGeom prst="line">
            <a:avLst/>
          </a:prstGeom>
          <a:noFill/>
          <a:ln w="28575">
            <a:solidFill>
              <a:srgbClr val="8AA0B6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9418320" y="4133088"/>
            <a:ext cx="0" cy="420624"/>
          </a:xfrm>
          <a:prstGeom prst="line">
            <a:avLst/>
          </a:prstGeom>
          <a:noFill/>
          <a:ln w="28575">
            <a:solidFill>
              <a:srgbClr val="8AA0B6"/>
            </a:solidFill>
            <a:prstDash val="solid"/>
            <a:tailEnd type="triangle"/>
          </a:ln>
        </p:spPr>
      </p:sp>
      <p:sp>
        <p:nvSpPr>
          <p:cNvPr id="36" name="Text 29"/>
          <p:cNvSpPr/>
          <p:nvPr/>
        </p:nvSpPr>
        <p:spPr>
          <a:xfrm>
            <a:off x="7589520" y="5669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E2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stored - every refresh starts from zero.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OSIRIS - Air-Gapped Intelligence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Air-Gapped Intelligence Architecture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Cloudera-aligned stack that runs fully disconnected - from raw feeds to grounded intelligence.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61394" y="3447288"/>
            <a:ext cx="1572768" cy="1024128"/>
          </a:xfrm>
          <a:prstGeom prst="roundRect">
            <a:avLst>
              <a:gd name="adj" fmla="val 6250"/>
            </a:avLst>
          </a:prstGeom>
          <a:solidFill>
            <a:srgbClr val="2B3A4A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9179" y="3557016"/>
            <a:ext cx="457200" cy="457200"/>
          </a:xfrm>
          <a:prstGeom prst="ellipse">
            <a:avLst/>
          </a:prstGeom>
          <a:solidFill>
            <a:srgbClr val="8AA0B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335" y="3662172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2337" y="4031511"/>
            <a:ext cx="159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Mirrored Public Data Sources</a:t>
            </a:r>
          </a:p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697480" y="1783080"/>
            <a:ext cx="1572768" cy="1024128"/>
          </a:xfrm>
          <a:prstGeom prst="roundRect">
            <a:avLst>
              <a:gd name="adj" fmla="val 6250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55264" y="1892808"/>
            <a:ext cx="457200" cy="457200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420" y="1997964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0" y="23317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743200" y="256946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572000" y="1783080"/>
            <a:ext cx="1572768" cy="1024128"/>
          </a:xfrm>
          <a:prstGeom prst="roundRect">
            <a:avLst>
              <a:gd name="adj" fmla="val 6250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129784" y="1892808"/>
            <a:ext cx="457200" cy="457200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4940" y="1997964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7720" y="23317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617720" y="256946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Stream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446520" y="1783080"/>
            <a:ext cx="1572768" cy="1024128"/>
          </a:xfrm>
          <a:prstGeom prst="roundRect">
            <a:avLst>
              <a:gd name="adj" fmla="val 6250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004304" y="1892808"/>
            <a:ext cx="457200" cy="457200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9460" y="1997964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92240" y="23317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92240" y="256946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Streaming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297680" y="2295144"/>
            <a:ext cx="256032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6172200" y="2295144"/>
            <a:ext cx="256032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2487168" y="1600200"/>
            <a:ext cx="0" cy="3611880"/>
          </a:xfrm>
          <a:prstGeom prst="line">
            <a:avLst/>
          </a:prstGeom>
          <a:noFill/>
          <a:ln w="25400">
            <a:solidFill>
              <a:srgbClr val="F2B233"/>
            </a:solidFill>
            <a:prstDash val="dash"/>
          </a:ln>
        </p:spPr>
      </p:sp>
      <p:sp>
        <p:nvSpPr>
          <p:cNvPr id="26" name="Text 20"/>
          <p:cNvSpPr/>
          <p:nvPr/>
        </p:nvSpPr>
        <p:spPr>
          <a:xfrm>
            <a:off x="1371600" y="5248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 BOUNDARY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446520" y="3291840"/>
            <a:ext cx="1709928" cy="868680"/>
          </a:xfrm>
          <a:prstGeom prst="roundRect">
            <a:avLst>
              <a:gd name="adj" fmla="val 7368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8446325" y="286147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+ Ozone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867144" y="3893151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Lakehouse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6446520" y="4315968"/>
            <a:ext cx="1709928" cy="868680"/>
          </a:xfrm>
          <a:prstGeom prst="roundRect">
            <a:avLst>
              <a:gd name="adj" fmla="val 7368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583680" y="4526280"/>
            <a:ext cx="457200" cy="457200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8836" y="4631436"/>
            <a:ext cx="246888" cy="2468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14032" y="446227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7114032" y="475488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7232904" y="2885821"/>
            <a:ext cx="0" cy="310896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8695944" y="3737372"/>
            <a:ext cx="1508760" cy="960120"/>
          </a:xfrm>
          <a:prstGeom prst="roundRect">
            <a:avLst>
              <a:gd name="adj" fmla="val 6667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9258300" y="3761009"/>
            <a:ext cx="457200" cy="457200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456" y="3854196"/>
            <a:ext cx="246888" cy="24688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732520" y="419709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8732520" y="43616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8261604" y="3910136"/>
            <a:ext cx="301752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8261604" y="4557374"/>
            <a:ext cx="301752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10469880" y="3291840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10588752" y="3502152"/>
            <a:ext cx="457200" cy="457200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3908" y="3607308"/>
            <a:ext cx="246888" cy="24688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1073384" y="35661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200" dirty="0"/>
          </a:p>
        </p:txBody>
      </p:sp>
      <p:sp>
        <p:nvSpPr>
          <p:cNvPr id="49" name="Shape 39"/>
          <p:cNvSpPr/>
          <p:nvPr/>
        </p:nvSpPr>
        <p:spPr>
          <a:xfrm>
            <a:off x="10469880" y="4315968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10588752" y="4526280"/>
            <a:ext cx="457200" cy="457200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93908" y="4631436"/>
            <a:ext cx="246888" cy="246888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11073384" y="4462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200" dirty="0"/>
          </a:p>
        </p:txBody>
      </p:sp>
      <p:sp>
        <p:nvSpPr>
          <p:cNvPr id="53" name="Text 42"/>
          <p:cNvSpPr/>
          <p:nvPr/>
        </p:nvSpPr>
        <p:spPr>
          <a:xfrm>
            <a:off x="11073384" y="47457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850" dirty="0"/>
          </a:p>
        </p:txBody>
      </p:sp>
      <p:sp>
        <p:nvSpPr>
          <p:cNvPr id="54" name="Shape 43"/>
          <p:cNvSpPr/>
          <p:nvPr/>
        </p:nvSpPr>
        <p:spPr>
          <a:xfrm>
            <a:off x="10241280" y="3910136"/>
            <a:ext cx="192024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55" name="Shape 44"/>
          <p:cNvSpPr/>
          <p:nvPr/>
        </p:nvSpPr>
        <p:spPr>
          <a:xfrm flipV="1">
            <a:off x="10241280" y="4594860"/>
            <a:ext cx="228600" cy="828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56" name="Text 45"/>
          <p:cNvSpPr/>
          <p:nvPr/>
        </p:nvSpPr>
        <p:spPr>
          <a:xfrm>
            <a:off x="2730643" y="5693567"/>
            <a:ext cx="15396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 </a:t>
            </a:r>
            <a:r>
              <a:rPr lang="en-US" sz="105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 mirrors authoritative sources across the boundary</a:t>
            </a:r>
            <a:endParaRPr lang="en-US" sz="1050" dirty="0"/>
          </a:p>
        </p:txBody>
      </p:sp>
      <p:sp>
        <p:nvSpPr>
          <p:cNvPr id="57" name="Text 46"/>
          <p:cNvSpPr/>
          <p:nvPr/>
        </p:nvSpPr>
        <p:spPr>
          <a:xfrm>
            <a:off x="4494214" y="5696712"/>
            <a:ext cx="17283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&amp; process  </a:t>
            </a:r>
            <a:r>
              <a:rPr lang="en-US" sz="105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Flink resolve entities and derive relationships</a:t>
            </a:r>
            <a:endParaRPr lang="en-US" sz="1050" dirty="0"/>
          </a:p>
        </p:txBody>
      </p:sp>
      <p:sp>
        <p:nvSpPr>
          <p:cNvPr id="58" name="Text 47"/>
          <p:cNvSpPr/>
          <p:nvPr/>
        </p:nvSpPr>
        <p:spPr>
          <a:xfrm>
            <a:off x="6428232" y="5728447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 </a:t>
            </a:r>
            <a:r>
              <a:rPr lang="en-US" sz="105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history &amp; replay; graph holds relationships</a:t>
            </a:r>
            <a:endParaRPr lang="en-US" sz="1050" dirty="0"/>
          </a:p>
        </p:txBody>
      </p:sp>
      <p:sp>
        <p:nvSpPr>
          <p:cNvPr id="59" name="Text 48"/>
          <p:cNvSpPr/>
          <p:nvPr/>
        </p:nvSpPr>
        <p:spPr>
          <a:xfrm>
            <a:off x="9089136" y="57150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&amp; reason  </a:t>
            </a:r>
            <a:r>
              <a:rPr lang="en-US" sz="105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feeds the UI and a grounded local LLM</a:t>
            </a:r>
            <a:endParaRPr lang="en-US" sz="1050" dirty="0"/>
          </a:p>
        </p:txBody>
      </p:sp>
      <p:sp>
        <p:nvSpPr>
          <p:cNvPr id="60" name="Text 4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OSIRIS - Air-Gapped Intelligence</a:t>
            </a:r>
            <a:endParaRPr lang="en-US" sz="900" dirty="0"/>
          </a:p>
        </p:txBody>
      </p:sp>
      <p:sp>
        <p:nvSpPr>
          <p:cNvPr id="61" name="Text 5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2" name="Shape 2">
            <a:extLst>
              <a:ext uri="{FF2B5EF4-FFF2-40B4-BE49-F238E27FC236}">
                <a16:creationId xmlns:a16="http://schemas.microsoft.com/office/drawing/2014/main" id="{96DD2A20-5A3D-863A-DEC4-3D765C03DC8C}"/>
              </a:ext>
            </a:extLst>
          </p:cNvPr>
          <p:cNvSpPr/>
          <p:nvPr/>
        </p:nvSpPr>
        <p:spPr>
          <a:xfrm>
            <a:off x="2697480" y="3447288"/>
            <a:ext cx="1572768" cy="1024128"/>
          </a:xfrm>
          <a:prstGeom prst="roundRect">
            <a:avLst>
              <a:gd name="adj" fmla="val 6250"/>
            </a:avLst>
          </a:prstGeom>
          <a:solidFill>
            <a:srgbClr val="2B3A4A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1282A9A2-4DB3-8550-3D29-3C2A3B48275E}"/>
              </a:ext>
            </a:extLst>
          </p:cNvPr>
          <p:cNvSpPr/>
          <p:nvPr/>
        </p:nvSpPr>
        <p:spPr>
          <a:xfrm>
            <a:off x="3227453" y="3557016"/>
            <a:ext cx="457200" cy="457200"/>
          </a:xfrm>
          <a:prstGeom prst="ellipse">
            <a:avLst/>
          </a:prstGeom>
          <a:solidFill>
            <a:srgbClr val="8AA0B6"/>
          </a:solidFill>
          <a:ln/>
        </p:spPr>
      </p:sp>
      <p:pic>
        <p:nvPicPr>
          <p:cNvPr id="65" name="Image 0" descr="preencoded.png">
            <a:extLst>
              <a:ext uri="{FF2B5EF4-FFF2-40B4-BE49-F238E27FC236}">
                <a16:creationId xmlns:a16="http://schemas.microsoft.com/office/drawing/2014/main" id="{623D4114-6675-4027-E626-4598699D5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609" y="3662172"/>
            <a:ext cx="246888" cy="246888"/>
          </a:xfrm>
          <a:prstGeom prst="rect">
            <a:avLst/>
          </a:prstGeom>
        </p:spPr>
      </p:pic>
      <p:sp>
        <p:nvSpPr>
          <p:cNvPr id="66" name="Text 4">
            <a:extLst>
              <a:ext uri="{FF2B5EF4-FFF2-40B4-BE49-F238E27FC236}">
                <a16:creationId xmlns:a16="http://schemas.microsoft.com/office/drawing/2014/main" id="{6975B410-6A02-CA2F-DBEB-43A8F20A8A10}"/>
              </a:ext>
            </a:extLst>
          </p:cNvPr>
          <p:cNvSpPr/>
          <p:nvPr/>
        </p:nvSpPr>
        <p:spPr>
          <a:xfrm>
            <a:off x="2688336" y="4023360"/>
            <a:ext cx="159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Private Data Sources</a:t>
            </a:r>
          </a:p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67" name="Shape 17">
            <a:extLst>
              <a:ext uri="{FF2B5EF4-FFF2-40B4-BE49-F238E27FC236}">
                <a16:creationId xmlns:a16="http://schemas.microsoft.com/office/drawing/2014/main" id="{06AAB9E7-22DC-F548-A36D-3C4EF22E0EFD}"/>
              </a:ext>
            </a:extLst>
          </p:cNvPr>
          <p:cNvSpPr/>
          <p:nvPr/>
        </p:nvSpPr>
        <p:spPr>
          <a:xfrm>
            <a:off x="2139694" y="2295144"/>
            <a:ext cx="256032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68" name="Shape 17">
            <a:extLst>
              <a:ext uri="{FF2B5EF4-FFF2-40B4-BE49-F238E27FC236}">
                <a16:creationId xmlns:a16="http://schemas.microsoft.com/office/drawing/2014/main" id="{FF4A0701-4D2B-757E-1E28-2A850680B306}"/>
              </a:ext>
            </a:extLst>
          </p:cNvPr>
          <p:cNvSpPr/>
          <p:nvPr/>
        </p:nvSpPr>
        <p:spPr>
          <a:xfrm flipV="1">
            <a:off x="3483863" y="2986454"/>
            <a:ext cx="0" cy="26330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69" name="Shape 2">
            <a:extLst>
              <a:ext uri="{FF2B5EF4-FFF2-40B4-BE49-F238E27FC236}">
                <a16:creationId xmlns:a16="http://schemas.microsoft.com/office/drawing/2014/main" id="{0A72F732-B59F-0C06-5048-C1EF6858788A}"/>
              </a:ext>
            </a:extLst>
          </p:cNvPr>
          <p:cNvSpPr/>
          <p:nvPr/>
        </p:nvSpPr>
        <p:spPr>
          <a:xfrm>
            <a:off x="466345" y="1753900"/>
            <a:ext cx="1572768" cy="1024128"/>
          </a:xfrm>
          <a:prstGeom prst="roundRect">
            <a:avLst>
              <a:gd name="adj" fmla="val 6250"/>
            </a:avLst>
          </a:prstGeom>
          <a:solidFill>
            <a:srgbClr val="2B3A4A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0" name="Text 4">
            <a:extLst>
              <a:ext uri="{FF2B5EF4-FFF2-40B4-BE49-F238E27FC236}">
                <a16:creationId xmlns:a16="http://schemas.microsoft.com/office/drawing/2014/main" id="{83A714B9-7DBF-BE17-C907-1AA5A74A3758}"/>
              </a:ext>
            </a:extLst>
          </p:cNvPr>
          <p:cNvSpPr/>
          <p:nvPr/>
        </p:nvSpPr>
        <p:spPr>
          <a:xfrm>
            <a:off x="443107" y="2178103"/>
            <a:ext cx="159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Diode/Guard Node</a:t>
            </a:r>
          </a:p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71" name="Shape 17">
            <a:extLst>
              <a:ext uri="{FF2B5EF4-FFF2-40B4-BE49-F238E27FC236}">
                <a16:creationId xmlns:a16="http://schemas.microsoft.com/office/drawing/2014/main" id="{FF4A79A4-3D37-E5A1-DE68-EDB8AF5E0703}"/>
              </a:ext>
            </a:extLst>
          </p:cNvPr>
          <p:cNvSpPr/>
          <p:nvPr/>
        </p:nvSpPr>
        <p:spPr>
          <a:xfrm>
            <a:off x="891164" y="2996976"/>
            <a:ext cx="0" cy="304008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72" name="Shape 17">
            <a:extLst>
              <a:ext uri="{FF2B5EF4-FFF2-40B4-BE49-F238E27FC236}">
                <a16:creationId xmlns:a16="http://schemas.microsoft.com/office/drawing/2014/main" id="{3E289244-EFAB-3FC0-6BEC-7CD608719F69}"/>
              </a:ext>
            </a:extLst>
          </p:cNvPr>
          <p:cNvSpPr/>
          <p:nvPr/>
        </p:nvSpPr>
        <p:spPr>
          <a:xfrm flipV="1">
            <a:off x="1557181" y="2996975"/>
            <a:ext cx="0" cy="279721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C918CF78-303A-30C9-0CC7-0D28418D76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9964" y="3632723"/>
            <a:ext cx="337896" cy="357961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7CF53758-F68A-19FD-C55E-624643D3E61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3695" y="3322715"/>
            <a:ext cx="1399873" cy="3814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Observation to Intelligence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5097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2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toy</a:t>
            </a:r>
            <a:r>
              <a:rPr lang="en-US" sz="15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r>
              <a:rPr lang="en-US" sz="1500" b="1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platform</a:t>
            </a:r>
            <a:r>
              <a:rPr lang="en-US" sz="15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what the air-gapped architecture unlocks.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65376"/>
            <a:ext cx="658368" cy="658368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377" y="2016801"/>
            <a:ext cx="355519" cy="3555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81912" y="193852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Replay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633472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observation captured to the lakehouse; replay any time window on demand.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88536" y="1627632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865376"/>
            <a:ext cx="658368" cy="658368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993" y="2016801"/>
            <a:ext cx="355519" cy="3555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193852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Time-Travel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62856" y="2633472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the operating picture exactly as it was at any past moment (Iceberg snapshots).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74152" y="1627632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1865376"/>
            <a:ext cx="658368" cy="658368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609" y="2016801"/>
            <a:ext cx="355519" cy="3555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53144" y="193852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48472" y="2633472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linked by operator, flag, proximity, and mentions - relationships, not dots.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3520440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8952" y="3758184"/>
            <a:ext cx="658368" cy="658368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377" y="3909609"/>
            <a:ext cx="355519" cy="3555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81912" y="3831336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Intelligence Q&amp;A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52628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cited, multi-hop questions - GraphRAG + local LLM, answers traced to source feeds.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88536" y="3520440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3758184"/>
            <a:ext cx="658368" cy="658368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993" y="3909609"/>
            <a:ext cx="355519" cy="3555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67528" y="3831336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Pattern-of-Life &amp; Anomaly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62856" y="452628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built over accumulated history surface what is unusual or out of pattern.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74152" y="3520440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758184"/>
            <a:ext cx="658368" cy="658368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1609" y="3909609"/>
            <a:ext cx="355519" cy="3555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53144" y="3831336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&amp; Agent-Ready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48472" y="452628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disconnected; an MCP surface exposes the same intelligence to agents.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OSIRIS - Air-Gapped Intelligence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387</Words>
  <Application>Microsoft Office PowerPoint</Application>
  <PresentationFormat>Widescreen</PresentationFormat>
  <Paragraphs>71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OSIRIS - From Observation to Intelligence</dc:title>
  <dc:subject>PptxGenJS Presentation</dc:subject>
  <dc:creator>OSIRIS</dc:creator>
  <cp:lastModifiedBy>Chris Burns</cp:lastModifiedBy>
  <cp:revision>2</cp:revision>
  <dcterms:created xsi:type="dcterms:W3CDTF">2026-06-26T13:09:40Z</dcterms:created>
  <dcterms:modified xsi:type="dcterms:W3CDTF">2026-06-26T14:44:42Z</dcterms:modified>
</cp:coreProperties>
</file>