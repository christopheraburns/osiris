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OSIRIS Today: An Observation Toy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window on the present moment - with no memory and no understanding.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66928" cy="56692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33" y="1758025"/>
            <a:ext cx="306141" cy="306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910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but shallow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98448" y="19202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public feeds - air, sea, space, seismic, fire, CCTV, cyber - on a WebGL globe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523744"/>
            <a:ext cx="566928" cy="56692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3" y="2654137"/>
            <a:ext cx="306141" cy="306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24871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only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98448" y="281635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dots on a map; no correlation, no analysis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19856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33" y="3550249"/>
            <a:ext cx="306141" cy="30614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33832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ephemeral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98448" y="3712464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persistence, no replay, no time-travel - refresh and it's gone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315968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3" y="4446361"/>
            <a:ext cx="306141" cy="30614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42793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relationships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98448" y="460857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never linked; there is no intelligence layer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E2776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3" y="5342473"/>
            <a:ext cx="306141" cy="30614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98448" y="51755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to the internet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298448" y="55046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public APIs - it cannot run disconnected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8640" y="6053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'Sees the present. Remembers nothing. Explains nothing.'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7635240" y="178308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7818120" y="19293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Internet APIs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818120" y="2295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third-party live feeds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635240" y="320040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818120" y="3346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Web App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818120" y="37124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(proxy)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635240" y="461772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7818120" y="47640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Globe UI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818120" y="512978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overlays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9418320" y="2715768"/>
            <a:ext cx="0" cy="420624"/>
          </a:xfrm>
          <a:prstGeom prst="line">
            <a:avLst/>
          </a:prstGeom>
          <a:noFill/>
          <a:ln w="28575">
            <a:solidFill>
              <a:srgbClr val="8AA0B6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418320" y="4133088"/>
            <a:ext cx="0" cy="420624"/>
          </a:xfrm>
          <a:prstGeom prst="line">
            <a:avLst/>
          </a:prstGeom>
          <a:noFill/>
          <a:ln w="28575">
            <a:solidFill>
              <a:srgbClr val="8AA0B6"/>
            </a:solidFill>
            <a:prstDash val="solid"/>
            <a:tailEnd type="triangle"/>
          </a:ln>
        </p:spPr>
      </p:sp>
      <p:sp>
        <p:nvSpPr>
          <p:cNvPr id="36" name="Text 29"/>
          <p:cNvSpPr/>
          <p:nvPr/>
        </p:nvSpPr>
        <p:spPr>
          <a:xfrm>
            <a:off x="758952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2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stored - every refresh starts from zero.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Air-Gapped Intelligence Architecture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Cloudera-aligned stack that runs fully disconnected - from raw feeds to grounded intelligence.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2B3A4A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892808"/>
            <a:ext cx="457200" cy="457200"/>
          </a:xfrm>
          <a:prstGeom prst="ellipse">
            <a:avLst/>
          </a:prstGeom>
          <a:solidFill>
            <a:srgbClr val="8AA0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19979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Mirrored Sources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9748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5526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420" y="19979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4320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57200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2978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199796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61772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446520" y="1783080"/>
            <a:ext cx="1572768" cy="1024128"/>
          </a:xfrm>
          <a:prstGeom prst="roundRect">
            <a:avLst>
              <a:gd name="adj" fmla="val 6250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04304" y="1892808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997964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2240" y="233172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92240" y="25694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Streaming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297680" y="2295144"/>
            <a:ext cx="25603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6172200" y="2295144"/>
            <a:ext cx="25603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2487168" y="1600200"/>
            <a:ext cx="0" cy="3611880"/>
          </a:xfrm>
          <a:prstGeom prst="line">
            <a:avLst/>
          </a:prstGeom>
          <a:noFill/>
          <a:ln w="25400">
            <a:solidFill>
              <a:srgbClr val="F2B233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1371600" y="5248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BOUNDARY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46520" y="3291840"/>
            <a:ext cx="1709928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0" y="3502152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3607308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14032" y="3438144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+ Ozone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114032" y="373075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Lakehouse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6446520" y="4315968"/>
            <a:ext cx="1709928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583680" y="4526280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836" y="4631436"/>
            <a:ext cx="246888" cy="2468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14032" y="446227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114032" y="47548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7223760" y="2807208"/>
            <a:ext cx="0" cy="310896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8732520" y="3611880"/>
            <a:ext cx="1508760" cy="960120"/>
          </a:xfrm>
          <a:prstGeom prst="roundRect">
            <a:avLst>
              <a:gd name="adj" fmla="val 6667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9258300" y="3721608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456" y="3826764"/>
            <a:ext cx="246888" cy="2468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732520" y="41422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8732520" y="4361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8412480" y="3726180"/>
            <a:ext cx="30175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8412480" y="4750308"/>
            <a:ext cx="301752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10469880" y="329184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10588752" y="3502152"/>
            <a:ext cx="457200" cy="457200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908" y="3607308"/>
            <a:ext cx="246888" cy="2468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1073384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10469880" y="4315968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10588752" y="4526280"/>
            <a:ext cx="457200" cy="457200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3908" y="4631436"/>
            <a:ext cx="246888" cy="24688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1073384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1073384" y="4745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10241280" y="3726180"/>
            <a:ext cx="365760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55" name="Shape 44"/>
          <p:cNvSpPr/>
          <p:nvPr/>
        </p:nvSpPr>
        <p:spPr>
          <a:xfrm>
            <a:off x="10241280" y="4750308"/>
            <a:ext cx="365760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56" name="Text 45"/>
          <p:cNvSpPr/>
          <p:nvPr/>
        </p:nvSpPr>
        <p:spPr>
          <a:xfrm>
            <a:off x="502920" y="5715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</a:t>
            </a:r>
            <a:pPr indent="0" marL="0">
              <a:buNone/>
            </a:pP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mirrors authoritative sources across the boundary</a:t>
            </a:r>
            <a:endParaRPr lang="en-US" sz="1050" dirty="0"/>
          </a:p>
        </p:txBody>
      </p:sp>
      <p:sp>
        <p:nvSpPr>
          <p:cNvPr id="57" name="Text 46"/>
          <p:cNvSpPr/>
          <p:nvPr/>
        </p:nvSpPr>
        <p:spPr>
          <a:xfrm>
            <a:off x="3364992" y="5715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process  </a:t>
            </a:r>
            <a:pPr indent="0" marL="0">
              <a:buNone/>
            </a:pP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 resolve entities and derive relationships</a:t>
            </a:r>
            <a:endParaRPr lang="en-US" sz="1050" dirty="0"/>
          </a:p>
        </p:txBody>
      </p:sp>
      <p:sp>
        <p:nvSpPr>
          <p:cNvPr id="58" name="Text 47"/>
          <p:cNvSpPr/>
          <p:nvPr/>
        </p:nvSpPr>
        <p:spPr>
          <a:xfrm>
            <a:off x="6227064" y="5715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 </a:t>
            </a:r>
            <a:pPr indent="0" marL="0">
              <a:buNone/>
            </a:pP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history &amp; replay; graph holds relationships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9089136" y="57150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&amp; reason  </a:t>
            </a:r>
            <a:pPr indent="0" marL="0">
              <a:buNone/>
            </a:pPr>
            <a:r>
              <a:rPr lang="en-US" sz="105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feeds the UI and a grounded local LLM</a:t>
            </a:r>
            <a:endParaRPr lang="en-US" sz="1050" dirty="0"/>
          </a:p>
        </p:txBody>
      </p:sp>
      <p:sp>
        <p:nvSpPr>
          <p:cNvPr id="60" name="Text 4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Observation to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7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toy</a:t>
            </a:r>
            <a:pPr indent="0" marL="0">
              <a:buNone/>
            </a:pPr>
            <a:r>
              <a:rPr lang="en-US" sz="15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 </a:t>
            </a:r>
            <a:pPr indent="0" marL="0">
              <a:buNone/>
            </a:pPr>
            <a:r>
              <a:rPr lang="en-US" sz="150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pPr indent="0" marL="0">
              <a:buNone/>
            </a:pPr>
            <a:r>
              <a:rPr lang="en-US" sz="15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what the air-gapped architecture unlocks.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65376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2016801"/>
            <a:ext cx="355519" cy="355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81912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Replay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captured to the lakehouse; replay any time window on demand.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88536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865376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993" y="2016801"/>
            <a:ext cx="355519" cy="3555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62856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operating picture exactly as it was at any past moment (Iceberg snapshots).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74152" y="1627632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865376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09" y="2016801"/>
            <a:ext cx="355519" cy="3555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53144" y="193852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48472" y="2633472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linked by operator, flag, proximity, and mentions - relationships, not dots.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952" y="3758184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77" y="3909609"/>
            <a:ext cx="355519" cy="3555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81912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Intelligence Q&amp;A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cited, multi-hop questions - GraphRAG + local LLM, answers traced to source feeds.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88536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758184"/>
            <a:ext cx="658368" cy="658368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993" y="3909609"/>
            <a:ext cx="355519" cy="3555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Pattern-of-Life &amp; Anomaly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62856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built over accumulated history surface what is unusual or out of pattern.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74152" y="3520440"/>
            <a:ext cx="3621024" cy="1755648"/>
          </a:xfrm>
          <a:prstGeom prst="roundRect">
            <a:avLst>
              <a:gd name="adj" fmla="val 3646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758184"/>
            <a:ext cx="658368" cy="658368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609" y="3909609"/>
            <a:ext cx="355519" cy="3555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53144" y="3831336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&amp; Agent-Ready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48472" y="452628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disconnected; an MCP surface exposes the same intelligence to agents.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Capabilities, Mapped to Cloudera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unlocked on the previous slide is delivered by a specific service in the stack.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CAPABILITY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SERVICE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65960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12" y="2062704"/>
            <a:ext cx="227137" cy="2271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470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Replay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0368" y="2176272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806440" y="1847088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61888" y="1965960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632" y="2062704"/>
            <a:ext cx="227137" cy="2271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+ Ozone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37960" y="2203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Open Data Lakehouse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189720" y="184708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observations written to object storage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" y="2606040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8368" y="2724912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12" y="2821656"/>
            <a:ext cx="227137" cy="2271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606040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5230368" y="2935224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806440" y="2606040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61888" y="2724912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632" y="2821656"/>
            <a:ext cx="227137" cy="22713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37960" y="26791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Snapshots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537960" y="29626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Open Data Lakehouse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189720" y="26060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picture at any past point in time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3364992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8368" y="3483864"/>
            <a:ext cx="420624" cy="420624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112" y="3580608"/>
            <a:ext cx="227137" cy="22713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336499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5230368" y="3694176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5806440" y="3364992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961888" y="3483864"/>
            <a:ext cx="420624" cy="420624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8632" y="3580608"/>
            <a:ext cx="227137" cy="227137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537960" y="3438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537960" y="37216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9189720" y="33649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entities and their relationships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02920" y="4123944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58368" y="4242816"/>
            <a:ext cx="420624" cy="420624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112" y="4339560"/>
            <a:ext cx="227137" cy="227137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234440" y="412394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Intelligence Q&amp;A</a:t>
            </a:r>
            <a:endParaRPr lang="en-US" sz="1450" dirty="0"/>
          </a:p>
        </p:txBody>
      </p:sp>
      <p:sp>
        <p:nvSpPr>
          <p:cNvPr id="43" name="Shape 34"/>
          <p:cNvSpPr/>
          <p:nvPr/>
        </p:nvSpPr>
        <p:spPr>
          <a:xfrm>
            <a:off x="5230368" y="4453128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5806440" y="4123944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5961888" y="4242816"/>
            <a:ext cx="420624" cy="420624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8632" y="4339560"/>
            <a:ext cx="227137" cy="227137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537960" y="419709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+ GraphRAG</a:t>
            </a:r>
            <a:endParaRPr lang="en-US" sz="1350" dirty="0"/>
          </a:p>
        </p:txBody>
      </p:sp>
      <p:sp>
        <p:nvSpPr>
          <p:cNvPr id="48" name="Text 38"/>
          <p:cNvSpPr/>
          <p:nvPr/>
        </p:nvSpPr>
        <p:spPr>
          <a:xfrm>
            <a:off x="6537960" y="4480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AI Inference Service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9189720" y="4123944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 grounded in the graph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502920" y="4882896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58368" y="5001768"/>
            <a:ext cx="420624" cy="420624"/>
          </a:xfrm>
          <a:prstGeom prst="ellipse">
            <a:avLst/>
          </a:prstGeom>
          <a:solidFill>
            <a:srgbClr val="F2B233"/>
          </a:solidFill>
          <a:ln/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112" y="5098512"/>
            <a:ext cx="227137" cy="227137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234440" y="48828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Pattern-of-Life &amp; Anomaly</a:t>
            </a:r>
            <a:endParaRPr lang="en-US" sz="1450" dirty="0"/>
          </a:p>
        </p:txBody>
      </p:sp>
      <p:sp>
        <p:nvSpPr>
          <p:cNvPr id="54" name="Shape 43"/>
          <p:cNvSpPr/>
          <p:nvPr/>
        </p:nvSpPr>
        <p:spPr>
          <a:xfrm>
            <a:off x="5230368" y="5212080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55" name="Shape 44"/>
          <p:cNvSpPr/>
          <p:nvPr/>
        </p:nvSpPr>
        <p:spPr>
          <a:xfrm>
            <a:off x="5806440" y="4882896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5961888" y="5001768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5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8632" y="5098512"/>
            <a:ext cx="227137" cy="227137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6537960" y="49560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</a:t>
            </a:r>
            <a:endParaRPr lang="en-US" sz="1350" dirty="0"/>
          </a:p>
        </p:txBody>
      </p:sp>
      <p:sp>
        <p:nvSpPr>
          <p:cNvPr id="59" name="Text 47"/>
          <p:cNvSpPr/>
          <p:nvPr/>
        </p:nvSpPr>
        <p:spPr>
          <a:xfrm>
            <a:off x="6537960" y="52395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Streaming Analytics</a:t>
            </a:r>
            <a:endParaRPr lang="en-US" sz="950" dirty="0"/>
          </a:p>
        </p:txBody>
      </p:sp>
      <p:sp>
        <p:nvSpPr>
          <p:cNvPr id="60" name="Text 48"/>
          <p:cNvSpPr/>
          <p:nvPr/>
        </p:nvSpPr>
        <p:spPr>
          <a:xfrm>
            <a:off x="9189720" y="4882896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and deviations over history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502920" y="5641848"/>
            <a:ext cx="457200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658368" y="5760720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112" y="5857464"/>
            <a:ext cx="227137" cy="227137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1234440" y="56418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&amp; Agent-Ready</a:t>
            </a:r>
            <a:endParaRPr lang="en-US" sz="1450" dirty="0"/>
          </a:p>
        </p:txBody>
      </p:sp>
      <p:sp>
        <p:nvSpPr>
          <p:cNvPr id="65" name="Shape 52"/>
          <p:cNvSpPr/>
          <p:nvPr/>
        </p:nvSpPr>
        <p:spPr>
          <a:xfrm>
            <a:off x="5230368" y="5971032"/>
            <a:ext cx="475488" cy="0"/>
          </a:xfrm>
          <a:prstGeom prst="line">
            <a:avLst/>
          </a:prstGeom>
          <a:noFill/>
          <a:ln w="28575">
            <a:solidFill>
              <a:srgbClr val="C7DCF2"/>
            </a:solidFill>
            <a:prstDash val="solid"/>
            <a:tailEnd type="triangle"/>
          </a:ln>
        </p:spPr>
      </p:sp>
      <p:sp>
        <p:nvSpPr>
          <p:cNvPr id="66" name="Shape 53"/>
          <p:cNvSpPr/>
          <p:nvPr/>
        </p:nvSpPr>
        <p:spPr>
          <a:xfrm>
            <a:off x="5806440" y="5641848"/>
            <a:ext cx="5897880" cy="658368"/>
          </a:xfrm>
          <a:prstGeom prst="roundRect">
            <a:avLst>
              <a:gd name="adj" fmla="val 9722"/>
            </a:avLst>
          </a:prstGeom>
          <a:solidFill>
            <a:srgbClr val="16334D"/>
          </a:solidFill>
          <a:ln w="12700">
            <a:solidFill>
              <a:srgbClr val="20455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35000"/>
              </a:srgbClr>
            </a:outerShdw>
          </a:effectLst>
        </p:spPr>
      </p:sp>
      <p:sp>
        <p:nvSpPr>
          <p:cNvPr id="67" name="Shape 54"/>
          <p:cNvSpPr/>
          <p:nvPr/>
        </p:nvSpPr>
        <p:spPr>
          <a:xfrm>
            <a:off x="5961888" y="5760720"/>
            <a:ext cx="420624" cy="420624"/>
          </a:xfrm>
          <a:prstGeom prst="ellipse">
            <a:avLst/>
          </a:prstGeom>
          <a:solidFill>
            <a:srgbClr val="2FD4C6"/>
          </a:solidFill>
          <a:ln/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8632" y="5857464"/>
            <a:ext cx="227137" cy="227137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6537960" y="5715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 + MCP Gateway</a:t>
            </a:r>
            <a:endParaRPr lang="en-US" sz="1350" dirty="0"/>
          </a:p>
        </p:txBody>
      </p:sp>
      <p:sp>
        <p:nvSpPr>
          <p:cNvPr id="70" name="Text 56"/>
          <p:cNvSpPr/>
          <p:nvPr/>
        </p:nvSpPr>
        <p:spPr>
          <a:xfrm>
            <a:off x="6537960" y="59984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Cloudera DataFlow</a:t>
            </a:r>
            <a:endParaRPr lang="en-US" sz="950" dirty="0"/>
          </a:p>
        </p:txBody>
      </p:sp>
      <p:sp>
        <p:nvSpPr>
          <p:cNvPr id="71" name="Text 57"/>
          <p:cNvSpPr/>
          <p:nvPr/>
        </p:nvSpPr>
        <p:spPr>
          <a:xfrm>
            <a:off x="9189720" y="5641848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Cross-boundary collection; agent access</a:t>
            </a:r>
            <a:endParaRPr lang="en-US" sz="1000" dirty="0"/>
          </a:p>
        </p:txBody>
      </p:sp>
      <p:sp>
        <p:nvSpPr>
          <p:cNvPr id="72" name="Text 5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OSIRIS - Air-Gapped Intelligence</a:t>
            </a:r>
            <a:endParaRPr lang="en-US" sz="900" dirty="0"/>
          </a:p>
        </p:txBody>
      </p:sp>
      <p:sp>
        <p:nvSpPr>
          <p:cNvPr id="73" name="Text 59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OSIRIS - From Observation to Intelligence</dc:title>
  <dc:subject>PptxGenJS Presentation</dc:subject>
  <dc:creator>OSIRIS</dc:creator>
  <cp:lastModifiedBy>OSIRIS</cp:lastModifiedBy>
  <cp:revision>1</cp:revision>
  <dcterms:created xsi:type="dcterms:W3CDTF">2026-06-26T15:01:33Z</dcterms:created>
  <dcterms:modified xsi:type="dcterms:W3CDTF">2026-06-26T15:01:33Z</dcterms:modified>
</cp:coreProperties>
</file>